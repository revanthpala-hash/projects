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8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376F3C-FC06-43EE-B9ED-980DAB5FEDE4}">
          <p14:sldIdLst>
            <p14:sldId id="256"/>
            <p14:sldId id="28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AD91A5-ECEF-4AAB-8FA4-D166C355C982}" v="34" dt="2025-11-18T13:26:46.109"/>
    <p1510:client id="{65DE2B2C-BFC2-502A-7691-F1122A906E88}" v="2" dt="2025-11-18T17:04:08.445"/>
    <p1510:client id="{76099F69-A34C-419A-AC8A-11E9BC6D0580}" v="1" dt="2025-11-18T13:29:35.823"/>
    <p1510:client id="{867A843B-BACD-56B3-415C-47D91F29335C}" v="6" dt="2025-11-18T11:28:50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7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401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891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03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263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28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733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286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61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81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59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692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810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74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594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8254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317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912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C7A5E7-7D09-4315-8E3C-636CC5FDA99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B64AE6-2F52-4F3E-8EDC-D2A01F7A2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182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0581-7262-874F-12CD-BCF7F843D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4" y="1610032"/>
            <a:ext cx="6815669" cy="818536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5300" b="1" i="1" dirty="0">
                <a:latin typeface="+mn-lt"/>
              </a:rPr>
              <a:t>Customer Data Analysis</a:t>
            </a:r>
            <a:endParaRPr lang="en-IN" sz="5300" b="1" i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1E217-7573-DF3D-0956-959597143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1853" y="3881284"/>
            <a:ext cx="6815669" cy="694318"/>
          </a:xfrm>
        </p:spPr>
        <p:txBody>
          <a:bodyPr>
            <a:noAutofit/>
          </a:bodyPr>
          <a:lstStyle/>
          <a:p>
            <a:endParaRPr lang="en-IN" sz="48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D36A57-5078-0A60-5315-9C1507CF9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478" y="2428568"/>
            <a:ext cx="7123043" cy="284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391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6AB0E1-F7E5-6FEF-FC93-653D3F331E41}"/>
              </a:ext>
            </a:extLst>
          </p:cNvPr>
          <p:cNvSpPr txBox="1"/>
          <p:nvPr/>
        </p:nvSpPr>
        <p:spPr>
          <a:xfrm>
            <a:off x="934066" y="1317522"/>
            <a:ext cx="49652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Rockwell Condensed" panose="02060603050405020104" pitchFamily="18" charset="0"/>
              </a:rPr>
              <a:t>Project Team ID: PTID-CDA-NOV-25-879</a:t>
            </a:r>
          </a:p>
          <a:p>
            <a:endParaRPr lang="en-IN" sz="2400" b="1" u="sng" dirty="0">
              <a:latin typeface="Rockwell Condensed" panose="02060603050405020104" pitchFamily="18" charset="0"/>
            </a:endParaRPr>
          </a:p>
          <a:p>
            <a:r>
              <a:rPr lang="en-IN" sz="2400" b="1" u="sng" dirty="0">
                <a:latin typeface="Rockwell Condensed" panose="02060603050405020104" pitchFamily="18" charset="0"/>
              </a:rPr>
              <a:t>Project code: PRDA-05</a:t>
            </a:r>
          </a:p>
          <a:p>
            <a:endParaRPr lang="en-IN" sz="2400" b="1" u="sng" dirty="0">
              <a:latin typeface="Rockwell Condensed" panose="02060603050405020104" pitchFamily="18" charset="0"/>
            </a:endParaRPr>
          </a:p>
          <a:p>
            <a:r>
              <a:rPr lang="en-IN" sz="2400" b="1" u="sng" dirty="0">
                <a:latin typeface="Rockwell Condensed" panose="02060603050405020104" pitchFamily="18" charset="0"/>
              </a:rPr>
              <a:t>Project Name: Customer Data Analysis </a:t>
            </a:r>
          </a:p>
          <a:p>
            <a:endParaRPr lang="en-IN" sz="2400" b="1" u="sng" dirty="0">
              <a:latin typeface="Rockwell Condensed" panose="02060603050405020104" pitchFamily="18" charset="0"/>
            </a:endParaRPr>
          </a:p>
          <a:p>
            <a:r>
              <a:rPr lang="en-IN" sz="2400" b="1" dirty="0">
                <a:latin typeface="Rockwell Condensed" panose="02060603050405020104" pitchFamily="18" charset="0"/>
              </a:rPr>
              <a:t>Team Members: </a:t>
            </a:r>
            <a:r>
              <a:rPr lang="en-IN" sz="2400" b="1" dirty="0" err="1">
                <a:latin typeface="Rockwell Condensed" panose="02060603050405020104" pitchFamily="18" charset="0"/>
              </a:rPr>
              <a:t>B.Chandu</a:t>
            </a:r>
            <a:endParaRPr lang="en-IN" sz="2400" b="1" dirty="0">
              <a:latin typeface="Rockwell Condensed" panose="02060603050405020104" pitchFamily="18" charset="0"/>
            </a:endParaRPr>
          </a:p>
          <a:p>
            <a:r>
              <a:rPr lang="en-IN" sz="2400" b="1" dirty="0">
                <a:latin typeface="Rockwell Condensed" panose="02060603050405020104" pitchFamily="18" charset="0"/>
              </a:rPr>
              <a:t>                    </a:t>
            </a:r>
            <a:r>
              <a:rPr lang="en-IN" sz="2400" b="1" dirty="0" err="1">
                <a:latin typeface="Rockwell Condensed" panose="02060603050405020104" pitchFamily="18" charset="0"/>
              </a:rPr>
              <a:t>P.Rajiv</a:t>
            </a:r>
            <a:r>
              <a:rPr lang="en-IN" sz="2400" b="1" dirty="0">
                <a:latin typeface="Rockwell Condensed" panose="02060603050405020104" pitchFamily="18" charset="0"/>
              </a:rPr>
              <a:t> Revanth</a:t>
            </a:r>
          </a:p>
          <a:p>
            <a:r>
              <a:rPr lang="en-IN" sz="2400" b="1" dirty="0">
                <a:latin typeface="Rockwell Condensed" panose="02060603050405020104" pitchFamily="18" charset="0"/>
              </a:rPr>
              <a:t>                    </a:t>
            </a:r>
            <a:r>
              <a:rPr lang="en-IN" sz="2400" b="1" dirty="0" err="1">
                <a:latin typeface="Rockwell Condensed" panose="02060603050405020104" pitchFamily="18" charset="0"/>
              </a:rPr>
              <a:t>Y.Ashok</a:t>
            </a:r>
            <a:r>
              <a:rPr lang="en-IN" sz="2400" b="1" dirty="0">
                <a:latin typeface="Rockwell Condensed" panose="02060603050405020104" pitchFamily="18" charset="0"/>
              </a:rPr>
              <a:t> </a:t>
            </a:r>
            <a:r>
              <a:rPr lang="en-IN" sz="2400" b="1" dirty="0" err="1">
                <a:latin typeface="Rockwell Condensed" panose="02060603050405020104" pitchFamily="18" charset="0"/>
              </a:rPr>
              <a:t>kumar</a:t>
            </a:r>
            <a:endParaRPr lang="en-IN" sz="2400" b="1" dirty="0">
              <a:latin typeface="Rockwell Condensed" panose="020606030504050201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574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B737-729D-3FAD-2ABE-2E41FF1D6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17" y="773084"/>
            <a:ext cx="5598941" cy="1371600"/>
          </a:xfrm>
        </p:spPr>
        <p:txBody>
          <a:bodyPr/>
          <a:lstStyle/>
          <a:p>
            <a:r>
              <a:rPr lang="en-US" b="1" dirty="0"/>
              <a:t>“ The shopping distribution according to gender ”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93072-671A-EC53-5FEA-3B677F0D1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The shopping distribution shows that female customers contribute 392K, which is significantly higher than the 261.56K contributed by male customers.</a:t>
            </a:r>
            <a:br>
              <a:rPr lang="en-US" dirty="0">
                <a:latin typeface="Baskerville Old Face" panose="02020602080505020303" pitchFamily="18" charset="0"/>
              </a:rPr>
            </a:br>
            <a:r>
              <a:rPr lang="en-US" dirty="0">
                <a:latin typeface="Baskerville Old Face" panose="02020602080505020303" pitchFamily="18" charset="0"/>
              </a:rPr>
              <a:t>This indicates that women are your strongest purchasing group.</a:t>
            </a:r>
            <a:br>
              <a:rPr lang="en-US" dirty="0">
                <a:latin typeface="Baskerville Old Face" panose="02020602080505020303" pitchFamily="18" charset="0"/>
              </a:rPr>
            </a:br>
            <a:r>
              <a:rPr lang="en-US" dirty="0">
                <a:latin typeface="Baskerville Old Face" panose="02020602080505020303" pitchFamily="18" charset="0"/>
              </a:rPr>
              <a:t>Focusing marketing campaigns, product variety, and targeted promotions toward female shoppers could further boost overall sales.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FC2867-F372-4ECA-AF8D-F90673231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031" y="1458884"/>
            <a:ext cx="4305901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1182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C24A-F4AA-E9B1-7601-5B7C83CBE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298377"/>
            <a:ext cx="4868824" cy="1053794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b="1" dirty="0"/>
              <a:t>which gender did we sell more products?”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F0592-6AD1-7612-44E0-CA63A7DE7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1" y="2952407"/>
            <a:ext cx="3718455" cy="2438404"/>
          </a:xfrm>
        </p:spPr>
        <p:txBody>
          <a:bodyPr>
            <a:normAutofit/>
          </a:bodyPr>
          <a:lstStyle/>
          <a:p>
            <a:r>
              <a:rPr lang="en-US" sz="2000" b="1"/>
              <a:t>Overall sales volume and purchase frequency were higher among women compared to men, indicating that female customers were your primary buyers</a:t>
            </a:r>
            <a:endParaRPr lang="en-IN" sz="2000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79C9FB-D223-572B-ED23-960631021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344" y="1628524"/>
            <a:ext cx="5106113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109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17EA-2030-A2F0-E088-031BC12D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14" y="499750"/>
            <a:ext cx="4839286" cy="1441592"/>
          </a:xfrm>
        </p:spPr>
        <p:txBody>
          <a:bodyPr/>
          <a:lstStyle/>
          <a:p>
            <a:r>
              <a:rPr lang="en-US" b="1" dirty="0"/>
              <a:t>“Which gender generated more revenue?”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27152-6F5D-FDCF-17E4-288447678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b="1">
                <a:latin typeface="Californian FB" panose="0207040306080B030204" pitchFamily="18" charset="0"/>
              </a:rPr>
              <a:t>Female customers generated the highest revenue, contributing approximately 1.41 million.</a:t>
            </a:r>
            <a:br>
              <a:rPr lang="en-US" sz="2000" b="1">
                <a:latin typeface="Californian FB" panose="0207040306080B030204" pitchFamily="18" charset="0"/>
              </a:rPr>
            </a:br>
            <a:r>
              <a:rPr lang="en-US" sz="2000" b="1">
                <a:latin typeface="Californian FB" panose="0207040306080B030204" pitchFamily="18" charset="0"/>
              </a:rPr>
              <a:t>This makes women your most valuable customer segment in terms of total sales revenue.</a:t>
            </a:r>
            <a:endParaRPr lang="en-IN" sz="2000" b="1">
              <a:latin typeface="Californian FB" panose="0207040306080B0302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D8E5C0C-C473-30C3-9AF0-30E7272FF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792" y="1185550"/>
            <a:ext cx="5120008" cy="4486901"/>
          </a:xfrm>
        </p:spPr>
      </p:pic>
    </p:spTree>
    <p:extLst>
      <p:ext uri="{BB962C8B-B14F-4D97-AF65-F5344CB8AC3E}">
        <p14:creationId xmlns:p14="http://schemas.microsoft.com/office/powerpoint/2010/main" val="41954159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581D-36FF-19E9-40AB-EEE76AF9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82" y="668593"/>
            <a:ext cx="3951077" cy="113841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“Distribution of purchase categories relative to other columns?”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F0B7A-9E03-949D-FBA2-3FB719356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3804" y="2529619"/>
            <a:ext cx="3718455" cy="3372466"/>
          </a:xfrm>
        </p:spPr>
        <p:txBody>
          <a:bodyPr/>
          <a:lstStyle/>
          <a:p>
            <a:endParaRPr lang="en-US"/>
          </a:p>
          <a:p>
            <a:r>
              <a:rPr lang="en-US" sz="18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distribution shows that Clothing is the top category when looking at the sum of quantity purchased.</a:t>
            </a:r>
            <a:br>
              <a:rPr lang="en-US" sz="18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8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When comparing category by gender, female customers dominate most purchase categories.</a:t>
            </a:r>
            <a:br>
              <a:rPr lang="en-US" sz="18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8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Clothing also leads in the sum of price, making it the highest-value category overall.</a:t>
            </a:r>
          </a:p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31C8E5-9B61-4F39-6B5E-319143FFC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322" y="668594"/>
            <a:ext cx="6685936" cy="543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885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F759F-18DB-348E-463E-3D1DA47A8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30" y="577622"/>
            <a:ext cx="4705807" cy="1371600"/>
          </a:xfrm>
        </p:spPr>
        <p:txBody>
          <a:bodyPr/>
          <a:lstStyle/>
          <a:p>
            <a:r>
              <a:rPr lang="en-US" b="1" dirty="0"/>
              <a:t>“How is the shopping distribution according to age?”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E05DF-2885-7AFB-E58D-9F2A9C9E6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5910" y="3031065"/>
            <a:ext cx="4592227" cy="2438404"/>
          </a:xfrm>
        </p:spPr>
        <p:txBody>
          <a:bodyPr>
            <a:normAutofit fontScale="92500" lnSpcReduction="20000"/>
          </a:bodyPr>
          <a:lstStyle/>
          <a:p>
            <a:r>
              <a:rPr lang="en-US" b="1">
                <a:latin typeface="Leelawadee" panose="020B0502040204020203" pitchFamily="34" charset="-34"/>
                <a:cs typeface="Leelawadee" panose="020B0502040204020203" pitchFamily="34" charset="-34"/>
              </a:rPr>
              <a:t>Across all age groups—including teenagers, young adults, adults, middle-aged customers, and seniors—Clothing consistently shows the highest shopping distribution.</a:t>
            </a:r>
            <a:br>
              <a:rPr lang="en-US" b="1">
                <a:latin typeface="Leelawadee" panose="020B0502040204020203" pitchFamily="34" charset="-34"/>
                <a:cs typeface="Leelawadee" panose="020B0502040204020203" pitchFamily="34" charset="-34"/>
              </a:rPr>
            </a:br>
            <a:r>
              <a:rPr lang="en-US" b="1">
                <a:latin typeface="Leelawadee" panose="020B0502040204020203" pitchFamily="34" charset="-34"/>
                <a:cs typeface="Leelawadee" panose="020B0502040204020203" pitchFamily="34" charset="-34"/>
              </a:rPr>
              <a:t>This trend indicates that clothing is the most preferred category regardless of age.</a:t>
            </a:r>
            <a:br>
              <a:rPr lang="en-US" b="1">
                <a:latin typeface="Leelawadee" panose="020B0502040204020203" pitchFamily="34" charset="-34"/>
                <a:cs typeface="Leelawadee" panose="020B0502040204020203" pitchFamily="34" charset="-34"/>
              </a:rPr>
            </a:br>
            <a:r>
              <a:rPr lang="en-US" b="1">
                <a:latin typeface="Leelawadee" panose="020B0502040204020203" pitchFamily="34" charset="-34"/>
                <a:cs typeface="Leelawadee" panose="020B0502040204020203" pitchFamily="34" charset="-34"/>
              </a:rPr>
              <a:t>Every age segment contributes significantly to clothing purchases, making it the dominant category overall.</a:t>
            </a:r>
            <a:br>
              <a:rPr lang="en-US" b="1">
                <a:latin typeface="Leelawadee" panose="020B0502040204020203" pitchFamily="34" charset="-34"/>
                <a:cs typeface="Leelawadee" panose="020B0502040204020203" pitchFamily="34" charset="-34"/>
              </a:rPr>
            </a:br>
            <a:r>
              <a:rPr lang="en-US" b="1">
                <a:latin typeface="Leelawadee" panose="020B0502040204020203" pitchFamily="34" charset="-34"/>
                <a:cs typeface="Leelawadee" panose="020B0502040204020203" pitchFamily="34" charset="-34"/>
              </a:rPr>
              <a:t>The uniform preference across demographics highlights clothing as a universally popular product line.</a:t>
            </a:r>
            <a:endParaRPr lang="en-IN" b="1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70F420-2422-6EE6-DD39-E704DAC4A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138" y="1263422"/>
            <a:ext cx="5470525" cy="43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388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DC4F-FEC7-83FF-1A3B-EC6A1CB96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14" y="590843"/>
            <a:ext cx="4910360" cy="1483488"/>
          </a:xfrm>
        </p:spPr>
        <p:txBody>
          <a:bodyPr/>
          <a:lstStyle/>
          <a:p>
            <a:r>
              <a:rPr lang="en-US" b="1" dirty="0"/>
              <a:t>“Which age category did we sell more products to?”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84D70-9490-C06A-5A27-E541B7C06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i="1"/>
              <a:t>The Adults age category represents the largest portion of your product sales, contributing 31.8%.</a:t>
            </a:r>
            <a:br>
              <a:rPr lang="en-US" b="1" i="1"/>
            </a:br>
            <a:r>
              <a:rPr lang="en-US" b="1" i="1"/>
              <a:t>This makes adults the most engaged and active buyers among all age segments.</a:t>
            </a:r>
            <a:br>
              <a:rPr lang="en-US" b="1" i="1"/>
            </a:br>
            <a:r>
              <a:rPr lang="en-US" b="1" i="1"/>
              <a:t>Their strong purchasing share highlights them as a key target group for your sales strategy.</a:t>
            </a:r>
            <a:endParaRPr lang="en-IN" b="1" i="1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2FFC637-1237-71A5-CEC3-53FF964D8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474" y="1268361"/>
            <a:ext cx="5641467" cy="4365523"/>
          </a:xfrm>
        </p:spPr>
      </p:pic>
    </p:spTree>
    <p:extLst>
      <p:ext uri="{BB962C8B-B14F-4D97-AF65-F5344CB8AC3E}">
        <p14:creationId xmlns:p14="http://schemas.microsoft.com/office/powerpoint/2010/main" val="25342875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00A70-F939-830C-F683-7F5AE1E0E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911" y="966540"/>
            <a:ext cx="4740811" cy="1371600"/>
          </a:xfrm>
        </p:spPr>
        <p:txBody>
          <a:bodyPr/>
          <a:lstStyle/>
          <a:p>
            <a:r>
              <a:rPr lang="en-US" b="1" dirty="0"/>
              <a:t>“Which </a:t>
            </a:r>
            <a:r>
              <a:rPr lang="en-US" b="1"/>
              <a:t>age category </a:t>
            </a:r>
            <a:r>
              <a:rPr lang="en-US" b="1" dirty="0"/>
              <a:t>generated more revenue?”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E5A73-0961-FDC0-594B-C6BD690DA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b="1" i="1">
                <a:latin typeface="PMingLiU" panose="02020500000000000000" pitchFamily="18" charset="-120"/>
                <a:ea typeface="PMingLiU" panose="02020500000000000000" pitchFamily="18" charset="-120"/>
              </a:rPr>
              <a:t>The Adults age category generated the highest revenue, totaling 706.09K.</a:t>
            </a:r>
            <a:br>
              <a:rPr lang="en-US" sz="1800" b="1" i="1">
                <a:latin typeface="PMingLiU" panose="02020500000000000000" pitchFamily="18" charset="-120"/>
                <a:ea typeface="PMingLiU" panose="02020500000000000000" pitchFamily="18" charset="-120"/>
              </a:rPr>
            </a:br>
            <a:r>
              <a:rPr lang="en-US" sz="1800" b="1" i="1">
                <a:latin typeface="PMingLiU" panose="02020500000000000000" pitchFamily="18" charset="-120"/>
                <a:ea typeface="PMingLiU" panose="02020500000000000000" pitchFamily="18" charset="-120"/>
              </a:rPr>
              <a:t>This clearly shows that adults are your most profitable customer segment.</a:t>
            </a:r>
            <a:br>
              <a:rPr lang="en-US" sz="1800" b="1" i="1">
                <a:latin typeface="PMingLiU" panose="02020500000000000000" pitchFamily="18" charset="-120"/>
                <a:ea typeface="PMingLiU" panose="02020500000000000000" pitchFamily="18" charset="-120"/>
              </a:rPr>
            </a:br>
            <a:r>
              <a:rPr lang="en-US" sz="1800" b="1" i="1">
                <a:latin typeface="PMingLiU" panose="02020500000000000000" pitchFamily="18" charset="-120"/>
                <a:ea typeface="PMingLiU" panose="02020500000000000000" pitchFamily="18" charset="-120"/>
              </a:rPr>
              <a:t>Their strong spending power makes them a key contributor to overall business revenue</a:t>
            </a:r>
            <a:endParaRPr lang="en-IN" sz="1800" b="1" i="1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2788EB-7180-0622-DD09-A8E231B0A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555" y="1652340"/>
            <a:ext cx="4953691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76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7922-CC3C-8673-721C-BC4B8945B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559" y="1006672"/>
            <a:ext cx="4107766" cy="1371600"/>
          </a:xfrm>
        </p:spPr>
        <p:txBody>
          <a:bodyPr/>
          <a:lstStyle/>
          <a:p>
            <a:r>
              <a:rPr lang="en-US" b="1" dirty="0"/>
              <a:t>“Does the payment method have a relation with other columns?”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6C7CA-5567-B785-DEF8-B3320277E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2198" y="2910348"/>
            <a:ext cx="3718455" cy="3353935"/>
          </a:xfrm>
        </p:spPr>
        <p:txBody>
          <a:bodyPr>
            <a:normAutofit/>
          </a:bodyPr>
          <a:lstStyle/>
          <a:p>
            <a:r>
              <a:rPr lang="en-US" b="1" i="1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payments, showing a strong preference for cash.</a:t>
            </a:r>
            <a:br>
              <a:rPr lang="en-US" b="1" i="1" dirty="0">
                <a:latin typeface="Microsoft Yi Baiti" panose="03000500000000000000" pitchFamily="66" charset="0"/>
                <a:ea typeface="Microsoft Yi Baiti" panose="03000500000000000000" pitchFamily="66" charset="0"/>
              </a:rPr>
            </a:br>
            <a:r>
              <a:rPr lang="en-US" b="1" i="1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Across all categories, Clothing leads in every payment type—cash, credit card, and debit card—making it the most frequently purchased category.</a:t>
            </a:r>
            <a:br>
              <a:rPr lang="en-US" b="1" i="1" dirty="0">
                <a:latin typeface="Microsoft Yi Baiti" panose="03000500000000000000" pitchFamily="66" charset="0"/>
                <a:ea typeface="Microsoft Yi Baiti" panose="03000500000000000000" pitchFamily="66" charset="0"/>
              </a:rPr>
            </a:br>
            <a:r>
              <a:rPr lang="en-US" b="1" i="1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Among shopping malls, the Mall of Istanbul has the highest number of payments across all three methods, indicating its strong customer traffic and spending.</a:t>
            </a:r>
            <a:br>
              <a:rPr lang="en-US" b="1" i="1" dirty="0">
                <a:latin typeface="Microsoft Yi Baiti" panose="03000500000000000000" pitchFamily="66" charset="0"/>
                <a:ea typeface="Microsoft Yi Baiti" panose="03000500000000000000" pitchFamily="66" charset="0"/>
              </a:rPr>
            </a:br>
            <a:r>
              <a:rPr lang="en-US" b="1" i="1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These patterns show consistent customer behavior across gender, category, and mall location.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12555F-9284-9667-82C8-3CCC0420C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325" y="875071"/>
            <a:ext cx="6757988" cy="509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18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281CE-F21C-A564-12BF-2F4AF158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15" y="1209368"/>
            <a:ext cx="4819860" cy="1371600"/>
          </a:xfrm>
        </p:spPr>
        <p:txBody>
          <a:bodyPr/>
          <a:lstStyle/>
          <a:p>
            <a:r>
              <a:rPr lang="en-US" b="1" dirty="0"/>
              <a:t>“How is the distribution of the payment method?”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BE34B-203C-3D69-A5B6-C8ED59B22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i="1"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The revenue distribution shows that cash payments outperform both credit card and debit card transactions.</a:t>
            </a:r>
            <a:br>
              <a:rPr lang="en-US" b="1" i="1"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</a:br>
            <a:r>
              <a:rPr lang="en-US" b="1" i="1"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To optimize this trend, you could ensure smooth cash-handling processes and offer targeted promotions for digital payments to balance the mix.</a:t>
            </a:r>
            <a:br>
              <a:rPr lang="en-US" b="1" i="1"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</a:br>
            <a:r>
              <a:rPr lang="en-US" b="1" i="1"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Strengthening digital options may also attract customers who prefer convenient, card-based transactions.</a:t>
            </a:r>
            <a:endParaRPr lang="en-IN" b="1" i="1"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8B77E2-00B1-3C06-F04B-9C2D28896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975" y="1209368"/>
            <a:ext cx="5372850" cy="442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357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B0661E-11D3-2C0E-AB46-D30E831E2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2" y="580103"/>
            <a:ext cx="10953137" cy="569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817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186</TotalTime>
  <Words>579</Words>
  <Application>Microsoft Office PowerPoint</Application>
  <PresentationFormat>Widescreen</PresentationFormat>
  <Paragraphs>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PMingLiU</vt:lpstr>
      <vt:lpstr>Arial</vt:lpstr>
      <vt:lpstr>Baskerville Old Face</vt:lpstr>
      <vt:lpstr>Calibri Light</vt:lpstr>
      <vt:lpstr>Californian FB</vt:lpstr>
      <vt:lpstr>Garamond</vt:lpstr>
      <vt:lpstr>Leelawadee</vt:lpstr>
      <vt:lpstr>Microsoft Yi Baiti</vt:lpstr>
      <vt:lpstr>Nirmala Text Semilight</vt:lpstr>
      <vt:lpstr>Rockwell Condensed</vt:lpstr>
      <vt:lpstr>Organic</vt:lpstr>
      <vt:lpstr>         Customer Data Analysis</vt:lpstr>
      <vt:lpstr>PowerPoint Presentation</vt:lpstr>
      <vt:lpstr>“ The shopping distribution according to gender ”</vt:lpstr>
      <vt:lpstr>“which gender did we sell more products?”</vt:lpstr>
      <vt:lpstr>“Which gender generated more revenue?”</vt:lpstr>
      <vt:lpstr>“Distribution of purchase categories relative to other columns?”</vt:lpstr>
      <vt:lpstr>“How is the shopping distribution according to age?”</vt:lpstr>
      <vt:lpstr>“Which age category did we sell more products to?”</vt:lpstr>
      <vt:lpstr>“Which age category generated more revenue?”</vt:lpstr>
      <vt:lpstr>“Does the payment method have a relation with other columns?”</vt:lpstr>
      <vt:lpstr>“How is the distribution of the payment method?”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Chandu Chowdary</dc:creator>
  <cp:lastModifiedBy>Chandu Chowdary</cp:lastModifiedBy>
  <cp:revision>26</cp:revision>
  <dcterms:created xsi:type="dcterms:W3CDTF">2025-11-18T06:51:59Z</dcterms:created>
  <dcterms:modified xsi:type="dcterms:W3CDTF">2025-11-19T04:56:03Z</dcterms:modified>
</cp:coreProperties>
</file>